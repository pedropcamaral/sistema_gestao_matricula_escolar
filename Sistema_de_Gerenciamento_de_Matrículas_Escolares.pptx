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43063" y="1460227"/>
            <a:ext cx="5857875" cy="1645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E3A8A"/>
                </a:solidFill>
              </a:rPr>
              <a:t>Sistema de Gerenciamento de Matrículas Escolares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1643063" y="3248955"/>
            <a:ext cx="5857875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2" b="1" dirty="0">
                <a:solidFill>
                  <a:srgbClr val="334155"/>
                </a:solidFill>
              </a:rPr>
              <a:t>Uma Solução Completa para a Gestão Educacional</a:t>
            </a:r>
            <a:endParaRPr lang="en-US" sz="1602" dirty="0"/>
          </a:p>
        </p:txBody>
      </p:sp>
      <p:sp>
        <p:nvSpPr>
          <p:cNvPr id="5" name="Shape 2"/>
          <p:cNvSpPr/>
          <p:nvPr/>
        </p:nvSpPr>
        <p:spPr>
          <a:xfrm>
            <a:off x="2127945" y="4708624"/>
            <a:ext cx="142875" cy="142875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2127945" y="470862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👤</a:t>
            </a:r>
            <a:endParaRPr lang="en-US" sz="584" dirty="0"/>
          </a:p>
        </p:txBody>
      </p:sp>
      <p:sp>
        <p:nvSpPr>
          <p:cNvPr id="7" name="Text 4"/>
          <p:cNvSpPr/>
          <p:nvPr/>
        </p:nvSpPr>
        <p:spPr>
          <a:xfrm>
            <a:off x="2342257" y="4702373"/>
            <a:ext cx="376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]</a:t>
            </a:r>
            <a:endParaRPr lang="en-US" sz="834" dirty="0"/>
          </a:p>
        </p:txBody>
      </p:sp>
      <p:sp>
        <p:nvSpPr>
          <p:cNvPr id="8" name="Shape 5"/>
          <p:cNvSpPr/>
          <p:nvPr/>
        </p:nvSpPr>
        <p:spPr>
          <a:xfrm>
            <a:off x="5778512" y="4708624"/>
            <a:ext cx="142875" cy="142875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5778512" y="470862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📅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5992825" y="4702373"/>
            <a:ext cx="10232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Novembro de 2025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0" y="0"/>
            <a:ext cx="9144000" cy="28575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3A8A"/>
                </a:solidFill>
              </a:rPr>
              <a:t>Arquitetura em Três Camadas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669727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Escalabilidade, Segurança e Desempenho</a:t>
            </a:r>
            <a:endParaRPr lang="en-US" sz="834" dirty="0"/>
          </a:p>
        </p:txBody>
      </p:sp>
      <p:sp>
        <p:nvSpPr>
          <p:cNvPr id="5" name="Shape 2"/>
          <p:cNvSpPr/>
          <p:nvPr/>
        </p:nvSpPr>
        <p:spPr>
          <a:xfrm>
            <a:off x="1000125" y="1887038"/>
            <a:ext cx="2238366" cy="24802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1000125" y="1887038"/>
            <a:ext cx="42863" cy="248027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1178719" y="2101351"/>
            <a:ext cx="1881178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45" dirty="0">
                <a:solidFill>
                  <a:srgbClr val="000000"/>
                </a:solidFill>
              </a:rPr>
              <a:t>🎨</a:t>
            </a:r>
            <a:endParaRPr lang="en-US" sz="2145" dirty="0"/>
          </a:p>
        </p:txBody>
      </p:sp>
      <p:sp>
        <p:nvSpPr>
          <p:cNvPr id="8" name="Text 5"/>
          <p:cNvSpPr/>
          <p:nvPr/>
        </p:nvSpPr>
        <p:spPr>
          <a:xfrm>
            <a:off x="1178719" y="2597841"/>
            <a:ext cx="188117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Frontend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1178719" y="2899665"/>
            <a:ext cx="188117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4155"/>
                </a:solidFill>
              </a:rPr>
              <a:t>Interface intuitiva e responsiva para o usuário final, com design moderno e funcionalidades de fácil acesso.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1278731" y="3658298"/>
            <a:ext cx="30991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4748B"/>
                </a:solidFill>
              </a:rPr>
              <a:t>HTML5</a:t>
            </a:r>
            <a:endParaRPr lang="en-US" sz="634" dirty="0"/>
          </a:p>
        </p:txBody>
      </p:sp>
      <p:sp>
        <p:nvSpPr>
          <p:cNvPr id="11" name="Text 8"/>
          <p:cNvSpPr/>
          <p:nvPr/>
        </p:nvSpPr>
        <p:spPr>
          <a:xfrm>
            <a:off x="1278731" y="3842249"/>
            <a:ext cx="21408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4748B"/>
                </a:solidFill>
              </a:rPr>
              <a:t>CSS3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1278731" y="4026201"/>
            <a:ext cx="67053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4748B"/>
                </a:solidFill>
              </a:rPr>
              <a:t>JavaScript Puro</a:t>
            </a:r>
            <a:endParaRPr lang="en-US" sz="634" dirty="0"/>
          </a:p>
        </p:txBody>
      </p:sp>
      <p:sp>
        <p:nvSpPr>
          <p:cNvPr id="13" name="Shape 10"/>
          <p:cNvSpPr/>
          <p:nvPr/>
        </p:nvSpPr>
        <p:spPr>
          <a:xfrm>
            <a:off x="3452803" y="1887038"/>
            <a:ext cx="2238366" cy="24802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3452803" y="1887038"/>
            <a:ext cx="42863" cy="248027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3631397" y="2101351"/>
            <a:ext cx="1881178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45" dirty="0">
                <a:solidFill>
                  <a:srgbClr val="000000"/>
                </a:solidFill>
              </a:rPr>
              <a:t>⚙️</a:t>
            </a:r>
            <a:endParaRPr lang="en-US" sz="2145" dirty="0"/>
          </a:p>
        </p:txBody>
      </p:sp>
      <p:sp>
        <p:nvSpPr>
          <p:cNvPr id="16" name="Text 13"/>
          <p:cNvSpPr/>
          <p:nvPr/>
        </p:nvSpPr>
        <p:spPr>
          <a:xfrm>
            <a:off x="3631397" y="2597841"/>
            <a:ext cx="188117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Backend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3631397" y="2899665"/>
            <a:ext cx="188117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4155"/>
                </a:solidFill>
              </a:rPr>
              <a:t>Lógica de negócio, autenticação segura e API RESTful para comunicação eficiente com o frontend.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3731409" y="3658298"/>
            <a:ext cx="88551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4748B"/>
                </a:solidFill>
              </a:rPr>
              <a:t>Java Spring Boot 3.2</a:t>
            </a:r>
            <a:endParaRPr lang="en-US" sz="634" dirty="0"/>
          </a:p>
        </p:txBody>
      </p:sp>
      <p:sp>
        <p:nvSpPr>
          <p:cNvPr id="19" name="Text 16"/>
          <p:cNvSpPr/>
          <p:nvPr/>
        </p:nvSpPr>
        <p:spPr>
          <a:xfrm>
            <a:off x="3731409" y="3842249"/>
            <a:ext cx="8512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4748B"/>
                </a:solidFill>
              </a:rPr>
              <a:t>JWT Authentication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3731409" y="4026201"/>
            <a:ext cx="50539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4748B"/>
                </a:solidFill>
              </a:rPr>
              <a:t>API RESTful</a:t>
            </a:r>
            <a:endParaRPr lang="en-US" sz="634" dirty="0"/>
          </a:p>
        </p:txBody>
      </p:sp>
      <p:sp>
        <p:nvSpPr>
          <p:cNvPr id="21" name="Shape 18"/>
          <p:cNvSpPr/>
          <p:nvPr/>
        </p:nvSpPr>
        <p:spPr>
          <a:xfrm>
            <a:off x="5905481" y="1887038"/>
            <a:ext cx="2238394" cy="24802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5905481" y="1887038"/>
            <a:ext cx="42863" cy="2480277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6084075" y="2101351"/>
            <a:ext cx="1881206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45" dirty="0">
                <a:solidFill>
                  <a:srgbClr val="000000"/>
                </a:solidFill>
              </a:rPr>
              <a:t>💾</a:t>
            </a:r>
            <a:endParaRPr lang="en-US" sz="2145" dirty="0"/>
          </a:p>
        </p:txBody>
      </p:sp>
      <p:sp>
        <p:nvSpPr>
          <p:cNvPr id="24" name="Text 21"/>
          <p:cNvSpPr/>
          <p:nvPr/>
        </p:nvSpPr>
        <p:spPr>
          <a:xfrm>
            <a:off x="6084075" y="2597841"/>
            <a:ext cx="18812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Dados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6084075" y="2899665"/>
            <a:ext cx="188120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4155"/>
                </a:solidFill>
              </a:rPr>
              <a:t>Armazenamento seguro e otimizado com banco de dados relacional e cache de alta performance.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6184088" y="3658298"/>
            <a:ext cx="46370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4748B"/>
                </a:solidFill>
              </a:rPr>
              <a:t>MySQL 8.0</a:t>
            </a:r>
            <a:endParaRPr lang="en-US" sz="634" dirty="0"/>
          </a:p>
        </p:txBody>
      </p:sp>
      <p:sp>
        <p:nvSpPr>
          <p:cNvPr id="27" name="Text 24"/>
          <p:cNvSpPr/>
          <p:nvPr/>
        </p:nvSpPr>
        <p:spPr>
          <a:xfrm>
            <a:off x="6184088" y="3842249"/>
            <a:ext cx="53307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4748B"/>
                </a:solidFill>
              </a:rPr>
              <a:t>Redis Cache</a:t>
            </a:r>
            <a:endParaRPr lang="en-US" sz="634" dirty="0"/>
          </a:p>
        </p:txBody>
      </p:sp>
      <p:sp>
        <p:nvSpPr>
          <p:cNvPr id="28" name="Text 25"/>
          <p:cNvSpPr/>
          <p:nvPr/>
        </p:nvSpPr>
        <p:spPr>
          <a:xfrm>
            <a:off x="6184088" y="4026201"/>
            <a:ext cx="79962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4748B"/>
                </a:solidFill>
              </a:rPr>
              <a:t>Triggers &amp; Índices</a:t>
            </a:r>
            <a:endParaRPr lang="en-US" sz="634" dirty="0"/>
          </a:p>
        </p:txBody>
      </p:sp>
      <p:sp>
        <p:nvSpPr>
          <p:cNvPr id="29" name="Text 26"/>
          <p:cNvSpPr/>
          <p:nvPr/>
        </p:nvSpPr>
        <p:spPr>
          <a:xfrm>
            <a:off x="428625" y="4802386"/>
            <a:ext cx="82867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Comunicação entre camadas via HTTP/REST com CORS habilitado para máxima compatibilidade</a:t>
            </a:r>
            <a:endParaRPr lang="en-US" sz="67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3A8A"/>
                </a:solidFill>
              </a:rPr>
              <a:t>Frontend: Interface Intuitiva e Funcionalidades Essenciais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669727"/>
            <a:ext cx="8286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Design responsivo e moderno, desenvolvido com HTML5, CSS3 e JavaScript puro para máxima compatibilidade.</a:t>
            </a:r>
            <a:endParaRPr lang="en-US" sz="834" dirty="0"/>
          </a:p>
        </p:txBody>
      </p:sp>
      <p:sp>
        <p:nvSpPr>
          <p:cNvPr id="5" name="Shape 2"/>
          <p:cNvSpPr/>
          <p:nvPr/>
        </p:nvSpPr>
        <p:spPr>
          <a:xfrm>
            <a:off x="642938" y="1869877"/>
            <a:ext cx="2524116" cy="2000250"/>
          </a:xfrm>
          <a:prstGeom prst="rect">
            <a:avLst/>
          </a:prstGeom>
          <a:solidFill>
            <a:srgbClr val="FFFFFF"/>
          </a:solidFill>
          <a:ln w="18288">
            <a:solidFill>
              <a:srgbClr val="E2E8F0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869877"/>
            <a:ext cx="2524116" cy="2000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9115" y="3977283"/>
            <a:ext cx="73176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Tela de Login</a:t>
            </a:r>
            <a:endParaRPr lang="en-US" sz="784" dirty="0"/>
          </a:p>
        </p:txBody>
      </p:sp>
      <p:sp>
        <p:nvSpPr>
          <p:cNvPr id="8" name="Text 4"/>
          <p:cNvSpPr/>
          <p:nvPr/>
        </p:nvSpPr>
        <p:spPr>
          <a:xfrm>
            <a:off x="816732" y="4189809"/>
            <a:ext cx="21765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Autenticação segura com interface limpa e focada</a:t>
            </a:r>
            <a:endParaRPr lang="en-US" sz="674" dirty="0"/>
          </a:p>
        </p:txBody>
      </p:sp>
      <p:sp>
        <p:nvSpPr>
          <p:cNvPr id="9" name="Shape 5"/>
          <p:cNvSpPr/>
          <p:nvPr/>
        </p:nvSpPr>
        <p:spPr>
          <a:xfrm>
            <a:off x="3309928" y="1869877"/>
            <a:ext cx="2524116" cy="2000250"/>
          </a:xfrm>
          <a:prstGeom prst="rect">
            <a:avLst/>
          </a:prstGeom>
          <a:solidFill>
            <a:srgbClr val="FFFFFF"/>
          </a:solidFill>
          <a:ln w="18288">
            <a:solidFill>
              <a:srgbClr val="E2E8F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928" y="1869877"/>
            <a:ext cx="2524116" cy="20002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77506" y="3977283"/>
            <a:ext cx="118896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Dashboard de Alunos</a:t>
            </a:r>
            <a:endParaRPr lang="en-US" sz="784" dirty="0"/>
          </a:p>
        </p:txBody>
      </p:sp>
      <p:sp>
        <p:nvSpPr>
          <p:cNvPr id="12" name="Text 7"/>
          <p:cNvSpPr/>
          <p:nvPr/>
        </p:nvSpPr>
        <p:spPr>
          <a:xfrm>
            <a:off x="3454952" y="4189809"/>
            <a:ext cx="223406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Visualização em cards com filtros e busca avançada</a:t>
            </a:r>
            <a:endParaRPr lang="en-US" sz="674" dirty="0"/>
          </a:p>
        </p:txBody>
      </p:sp>
      <p:sp>
        <p:nvSpPr>
          <p:cNvPr id="13" name="Shape 8"/>
          <p:cNvSpPr/>
          <p:nvPr/>
        </p:nvSpPr>
        <p:spPr>
          <a:xfrm>
            <a:off x="5976919" y="1869877"/>
            <a:ext cx="2524144" cy="2000250"/>
          </a:xfrm>
          <a:prstGeom prst="rect">
            <a:avLst/>
          </a:prstGeom>
          <a:solidFill>
            <a:srgbClr val="FFFFFF"/>
          </a:solidFill>
          <a:ln w="18288">
            <a:solidFill>
              <a:srgbClr val="E2E8F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919" y="1869877"/>
            <a:ext cx="2524144" cy="20002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99610" y="3977283"/>
            <a:ext cx="10787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Modal de Matrícula</a:t>
            </a:r>
            <a:endParaRPr lang="en-US" sz="784" dirty="0"/>
          </a:p>
        </p:txBody>
      </p:sp>
      <p:sp>
        <p:nvSpPr>
          <p:cNvPr id="16" name="Text 10"/>
          <p:cNvSpPr/>
          <p:nvPr/>
        </p:nvSpPr>
        <p:spPr>
          <a:xfrm>
            <a:off x="6078103" y="4189809"/>
            <a:ext cx="232174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Formulário intuitivo para cadastro e edição de alunos</a:t>
            </a:r>
            <a:endParaRPr lang="en-US" sz="674" dirty="0"/>
          </a:p>
        </p:txBody>
      </p:sp>
      <p:sp>
        <p:nvSpPr>
          <p:cNvPr id="17" name="Shape 11"/>
          <p:cNvSpPr/>
          <p:nvPr/>
        </p:nvSpPr>
        <p:spPr>
          <a:xfrm>
            <a:off x="428625" y="4757738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2"/>
          <p:cNvSpPr/>
          <p:nvPr/>
        </p:nvSpPr>
        <p:spPr>
          <a:xfrm>
            <a:off x="428625" y="475773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✓</a:t>
            </a:r>
            <a:endParaRPr lang="en-US" sz="621" dirty="0"/>
          </a:p>
        </p:txBody>
      </p:sp>
      <p:sp>
        <p:nvSpPr>
          <p:cNvPr id="19" name="Text 13"/>
          <p:cNvSpPr/>
          <p:nvPr/>
        </p:nvSpPr>
        <p:spPr>
          <a:xfrm>
            <a:off x="671513" y="4743450"/>
            <a:ext cx="22128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</a:rPr>
              <a:t>Responsivo: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 Funciona em desktop, tablet e mobile</a:t>
            </a:r>
            <a:endParaRPr lang="en-US" sz="634" dirty="0"/>
          </a:p>
        </p:txBody>
      </p:sp>
      <p:sp>
        <p:nvSpPr>
          <p:cNvPr id="20" name="Shape 14"/>
          <p:cNvSpPr/>
          <p:nvPr/>
        </p:nvSpPr>
        <p:spPr>
          <a:xfrm>
            <a:off x="3238491" y="4757738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5"/>
          <p:cNvSpPr/>
          <p:nvPr/>
        </p:nvSpPr>
        <p:spPr>
          <a:xfrm>
            <a:off x="3238491" y="475773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✓</a:t>
            </a:r>
            <a:endParaRPr lang="en-US" sz="621" dirty="0"/>
          </a:p>
        </p:txBody>
      </p:sp>
      <p:sp>
        <p:nvSpPr>
          <p:cNvPr id="22" name="Text 16"/>
          <p:cNvSpPr/>
          <p:nvPr/>
        </p:nvSpPr>
        <p:spPr>
          <a:xfrm>
            <a:off x="3481378" y="4743450"/>
            <a:ext cx="186482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</a:rPr>
              <a:t>Filtros: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 Busca por nome, CPF, série e turno</a:t>
            </a:r>
            <a:endParaRPr lang="en-US" sz="634" dirty="0"/>
          </a:p>
        </p:txBody>
      </p:sp>
      <p:sp>
        <p:nvSpPr>
          <p:cNvPr id="23" name="Shape 17"/>
          <p:cNvSpPr/>
          <p:nvPr/>
        </p:nvSpPr>
        <p:spPr>
          <a:xfrm>
            <a:off x="6048356" y="4757738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18"/>
          <p:cNvSpPr/>
          <p:nvPr/>
        </p:nvSpPr>
        <p:spPr>
          <a:xfrm>
            <a:off x="6048356" y="475773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✓</a:t>
            </a:r>
            <a:endParaRPr lang="en-US" sz="621" dirty="0"/>
          </a:p>
        </p:txBody>
      </p:sp>
      <p:sp>
        <p:nvSpPr>
          <p:cNvPr id="25" name="Text 19"/>
          <p:cNvSpPr/>
          <p:nvPr/>
        </p:nvSpPr>
        <p:spPr>
          <a:xfrm>
            <a:off x="6291244" y="4743450"/>
            <a:ext cx="201099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</a:rPr>
              <a:t>CRUD Completo: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 Criar, editar e deletar alunos</a:t>
            </a:r>
            <a:endParaRPr lang="en-US" sz="6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3A8A"/>
                </a:solidFill>
              </a:rPr>
              <a:t>Backend: Segurança e Lógica de Negócio com Spring Boot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669727"/>
            <a:ext cx="8286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Arquitetura robusta com autenticação JWT, serviços RESTful e gerenciamento de dados seguro.</a:t>
            </a:r>
            <a:endParaRPr lang="en-US" sz="834" dirty="0"/>
          </a:p>
        </p:txBody>
      </p:sp>
      <p:sp>
        <p:nvSpPr>
          <p:cNvPr id="5" name="Shape 2"/>
          <p:cNvSpPr/>
          <p:nvPr/>
        </p:nvSpPr>
        <p:spPr>
          <a:xfrm>
            <a:off x="642938" y="984052"/>
            <a:ext cx="2533631" cy="4159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642938" y="984052"/>
            <a:ext cx="2533631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771525" y="1112639"/>
            <a:ext cx="227645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0000"/>
                </a:solidFill>
              </a:rPr>
              <a:t>🔐</a:t>
            </a:r>
            <a:endParaRPr lang="en-US" sz="1704" dirty="0"/>
          </a:p>
        </p:txBody>
      </p:sp>
      <p:sp>
        <p:nvSpPr>
          <p:cNvPr id="8" name="Text 5"/>
          <p:cNvSpPr/>
          <p:nvPr/>
        </p:nvSpPr>
        <p:spPr>
          <a:xfrm>
            <a:off x="771525" y="1482328"/>
            <a:ext cx="22764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Autenticação e Segurança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885825" y="1730573"/>
            <a:ext cx="110845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JWT (JSON Web Token)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885825" y="1927724"/>
            <a:ext cx="11818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JwtAuthenticationFilter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885825" y="2124875"/>
            <a:ext cx="88311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JwtTokenProvider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885825" y="2322026"/>
            <a:ext cx="73139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SecurityConfig</a:t>
            </a:r>
            <a:endParaRPr lang="en-US" sz="683" dirty="0"/>
          </a:p>
        </p:txBody>
      </p:sp>
      <p:sp>
        <p:nvSpPr>
          <p:cNvPr id="13" name="Shape 10"/>
          <p:cNvSpPr/>
          <p:nvPr/>
        </p:nvSpPr>
        <p:spPr>
          <a:xfrm>
            <a:off x="3305156" y="984052"/>
            <a:ext cx="2533659" cy="4159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3305156" y="984052"/>
            <a:ext cx="2533659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3433744" y="1112639"/>
            <a:ext cx="227648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0000"/>
                </a:solidFill>
              </a:rPr>
              <a:t>⚙️</a:t>
            </a:r>
            <a:endParaRPr lang="en-US" sz="1704" dirty="0"/>
          </a:p>
        </p:txBody>
      </p:sp>
      <p:sp>
        <p:nvSpPr>
          <p:cNvPr id="16" name="Text 13"/>
          <p:cNvSpPr/>
          <p:nvPr/>
        </p:nvSpPr>
        <p:spPr>
          <a:xfrm>
            <a:off x="3433744" y="1482328"/>
            <a:ext cx="227648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Serviços e Controladores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3548044" y="1730573"/>
            <a:ext cx="157581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AlunoService &amp; AlunoController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3548044" y="1927724"/>
            <a:ext cx="19542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MatriculaService &amp; MatriculaController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3548044" y="2124875"/>
            <a:ext cx="16354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TurmaService &amp; TurmaController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3548044" y="2322026"/>
            <a:ext cx="14778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AuthService &amp; AuthController</a:t>
            </a:r>
            <a:endParaRPr lang="en-US" sz="683" dirty="0"/>
          </a:p>
        </p:txBody>
      </p:sp>
      <p:sp>
        <p:nvSpPr>
          <p:cNvPr id="21" name="Shape 18"/>
          <p:cNvSpPr/>
          <p:nvPr/>
        </p:nvSpPr>
        <p:spPr>
          <a:xfrm>
            <a:off x="5967403" y="984052"/>
            <a:ext cx="2533631" cy="4159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5967403" y="984052"/>
            <a:ext cx="2533631" cy="2857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6095991" y="1112639"/>
            <a:ext cx="227645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0000"/>
                </a:solidFill>
              </a:rPr>
              <a:t>🔗</a:t>
            </a:r>
            <a:endParaRPr lang="en-US" sz="1704" dirty="0"/>
          </a:p>
        </p:txBody>
      </p:sp>
      <p:sp>
        <p:nvSpPr>
          <p:cNvPr id="24" name="Text 21"/>
          <p:cNvSpPr/>
          <p:nvPr/>
        </p:nvSpPr>
        <p:spPr>
          <a:xfrm>
            <a:off x="6095991" y="1482328"/>
            <a:ext cx="22764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Configuração e Integração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6210291" y="1730573"/>
            <a:ext cx="98332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CORS Configuration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6210291" y="1927724"/>
            <a:ext cx="98954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Redis Configuration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6210291" y="2124875"/>
            <a:ext cx="135128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JPA/Hibernate Repositories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6210291" y="2322026"/>
            <a:ext cx="143268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DTOs (Data Transfer Objects)</a:t>
            </a:r>
            <a:endParaRPr lang="en-US" sz="683" dirty="0"/>
          </a:p>
        </p:txBody>
      </p:sp>
      <p:sp>
        <p:nvSpPr>
          <p:cNvPr id="29" name="Shape 26"/>
          <p:cNvSpPr/>
          <p:nvPr/>
        </p:nvSpPr>
        <p:spPr>
          <a:xfrm>
            <a:off x="428625" y="4630936"/>
            <a:ext cx="8286750" cy="2982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0" name="Shape 27"/>
          <p:cNvSpPr/>
          <p:nvPr/>
        </p:nvSpPr>
        <p:spPr>
          <a:xfrm>
            <a:off x="428625" y="4630936"/>
            <a:ext cx="21431" cy="2982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8"/>
          <p:cNvSpPr/>
          <p:nvPr/>
        </p:nvSpPr>
        <p:spPr>
          <a:xfrm>
            <a:off x="428625" y="4630936"/>
            <a:ext cx="8286750" cy="298252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💡 API RESTful com endpoints bem definidos para todas as operações CRUD e autenticação</a:t>
            </a:r>
            <a:endParaRPr lang="en-US" sz="67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3A8A"/>
                </a:solidFill>
              </a:rPr>
              <a:t>Persistência de Dados: Integridade com Banco de Dados Híbrido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669727"/>
            <a:ext cx="82867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4155"/>
                </a:solidFill>
              </a:rPr>
              <a:t>Estratégia de dados que combina o melhor de dois mundos: confiabilidade relacional e velocidade de cache.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1000125" y="1880425"/>
            <a:ext cx="3464719" cy="23917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1000125" y="1880425"/>
            <a:ext cx="3464719" cy="4286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1214438" y="2094737"/>
            <a:ext cx="3036094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24" dirty="0">
                <a:solidFill>
                  <a:srgbClr val="000000"/>
                </a:solidFill>
              </a:rPr>
              <a:t>🗄️</a:t>
            </a:r>
            <a:endParaRPr lang="en-US" sz="1924" dirty="0"/>
          </a:p>
        </p:txBody>
      </p:sp>
      <p:sp>
        <p:nvSpPr>
          <p:cNvPr id="8" name="Text 5"/>
          <p:cNvSpPr/>
          <p:nvPr/>
        </p:nvSpPr>
        <p:spPr>
          <a:xfrm>
            <a:off x="1214438" y="2530506"/>
            <a:ext cx="30360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3A8A"/>
                </a:solidFill>
              </a:rPr>
              <a:t>MySQL 8.0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1214438" y="2830544"/>
            <a:ext cx="30360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4155"/>
                </a:solidFill>
              </a:rPr>
              <a:t>Banco de dados relacional para armazenamento seguro e estruturado de todos os dados críticos do sistema.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1328738" y="3293436"/>
            <a:ext cx="245968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</a:rPr>
              <a:t>Tabelas Principais: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 alunos, turmas, matriculas, usuarios</a:t>
            </a:r>
            <a:endParaRPr lang="en-US" sz="634" dirty="0"/>
          </a:p>
        </p:txBody>
      </p:sp>
      <p:sp>
        <p:nvSpPr>
          <p:cNvPr id="11" name="Text 8"/>
          <p:cNvSpPr/>
          <p:nvPr/>
        </p:nvSpPr>
        <p:spPr>
          <a:xfrm>
            <a:off x="1328738" y="3491675"/>
            <a:ext cx="181811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</a:rPr>
              <a:t>Integridade: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 Transações ACID garantidas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1328738" y="3689914"/>
            <a:ext cx="220008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</a:rPr>
              <a:t>Índices: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 Otimização de performance em consultas</a:t>
            </a:r>
            <a:endParaRPr lang="en-US" sz="634" dirty="0"/>
          </a:p>
        </p:txBody>
      </p:sp>
      <p:sp>
        <p:nvSpPr>
          <p:cNvPr id="13" name="Text 10"/>
          <p:cNvSpPr/>
          <p:nvPr/>
        </p:nvSpPr>
        <p:spPr>
          <a:xfrm>
            <a:off x="1328738" y="3888153"/>
            <a:ext cx="169164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</a:rPr>
              <a:t>Auditoria: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 Logs de todas as operações</a:t>
            </a:r>
            <a:endParaRPr lang="en-US" sz="634" dirty="0"/>
          </a:p>
        </p:txBody>
      </p:sp>
      <p:sp>
        <p:nvSpPr>
          <p:cNvPr id="14" name="Shape 11"/>
          <p:cNvSpPr/>
          <p:nvPr/>
        </p:nvSpPr>
        <p:spPr>
          <a:xfrm>
            <a:off x="4679156" y="1880425"/>
            <a:ext cx="3464719" cy="23917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4679156" y="1880425"/>
            <a:ext cx="3464719" cy="4286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4893469" y="2116169"/>
            <a:ext cx="3036094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24" dirty="0">
                <a:solidFill>
                  <a:srgbClr val="000000"/>
                </a:solidFill>
              </a:rPr>
              <a:t>⚡</a:t>
            </a:r>
            <a:endParaRPr lang="en-US" sz="1924" dirty="0"/>
          </a:p>
        </p:txBody>
      </p:sp>
      <p:sp>
        <p:nvSpPr>
          <p:cNvPr id="17" name="Text 14"/>
          <p:cNvSpPr/>
          <p:nvPr/>
        </p:nvSpPr>
        <p:spPr>
          <a:xfrm>
            <a:off x="4893469" y="2551937"/>
            <a:ext cx="30360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3A8A"/>
                </a:solidFill>
              </a:rPr>
              <a:t>Redis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4893469" y="2851975"/>
            <a:ext cx="30360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4155"/>
                </a:solidFill>
              </a:rPr>
              <a:t>Cache em memória e gerenciador de filas para aumentar velocidade de resposta e reduzir carga no banco.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5007769" y="3314867"/>
            <a:ext cx="240105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</a:rPr>
              <a:t>Cache: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 Dados frequentemente acessados em memória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5007769" y="3513106"/>
            <a:ext cx="186781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</a:rPr>
              <a:t>Performance: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 Resposta em milissegundos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5007769" y="3711346"/>
            <a:ext cx="212272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</a:rPr>
              <a:t>Filas: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 Gerenciamento de requisições assíncronas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5007769" y="3909585"/>
            <a:ext cx="204841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</a:rPr>
              <a:t>Sessões: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 Armazenamento de dados de usuário</a:t>
            </a:r>
            <a:endParaRPr lang="en-US" sz="634" dirty="0"/>
          </a:p>
        </p:txBody>
      </p:sp>
      <p:sp>
        <p:nvSpPr>
          <p:cNvPr id="23" name="Shape 20"/>
          <p:cNvSpPr/>
          <p:nvPr/>
        </p:nvSpPr>
        <p:spPr>
          <a:xfrm>
            <a:off x="428625" y="4757738"/>
            <a:ext cx="171450" cy="17145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428625" y="475773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🔒</a:t>
            </a:r>
            <a:endParaRPr lang="en-US" sz="584" dirty="0"/>
          </a:p>
        </p:txBody>
      </p:sp>
      <p:sp>
        <p:nvSpPr>
          <p:cNvPr id="25" name="Text 22"/>
          <p:cNvSpPr/>
          <p:nvPr/>
        </p:nvSpPr>
        <p:spPr>
          <a:xfrm>
            <a:off x="685800" y="4757738"/>
            <a:ext cx="371673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E3A8A"/>
                </a:solidFill>
              </a:rPr>
              <a:t>Triggers: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 Atualização automática de timestamps e validação de dados em tempo real</a:t>
            </a:r>
            <a:endParaRPr lang="en-US" sz="634" dirty="0"/>
          </a:p>
        </p:txBody>
      </p:sp>
      <p:sp>
        <p:nvSpPr>
          <p:cNvPr id="26" name="Shape 23"/>
          <p:cNvSpPr/>
          <p:nvPr/>
        </p:nvSpPr>
        <p:spPr>
          <a:xfrm>
            <a:off x="4679156" y="4757738"/>
            <a:ext cx="171450" cy="17145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4679156" y="475773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📊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4936331" y="4757738"/>
            <a:ext cx="374265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E3A8A"/>
                </a:solidFill>
              </a:rPr>
              <a:t>Modelagem: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 6 tabelas principais com relacionamentos bem definidos e normalizadas</a:t>
            </a:r>
            <a:endParaRPr lang="en-US" sz="6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3A8A"/>
                </a:solidFill>
              </a:rPr>
              <a:t>Conclusão: Um Sistema Pronto para o Ambiente Escolar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669727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Resumo das funcionalidades entregues e próximos passos</a:t>
            </a:r>
            <a:endParaRPr lang="en-US" sz="834" dirty="0"/>
          </a:p>
        </p:txBody>
      </p:sp>
      <p:sp>
        <p:nvSpPr>
          <p:cNvPr id="5" name="Shape 2"/>
          <p:cNvSpPr/>
          <p:nvPr/>
        </p:nvSpPr>
        <p:spPr>
          <a:xfrm>
            <a:off x="821531" y="2148483"/>
            <a:ext cx="285750" cy="2857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821531" y="214848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✓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93006" y="2203847"/>
            <a:ext cx="17287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Funcionalidades Entregues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821531" y="2591395"/>
            <a:ext cx="142875" cy="142875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821531" y="259139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1050131" y="2577108"/>
            <a:ext cx="21288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Gerenciamento Completo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1050131" y="2734270"/>
            <a:ext cx="183195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4155"/>
                </a:solidFill>
              </a:rPr>
              <a:t>CRUD de alunos com interface intuitiva</a:t>
            </a:r>
            <a:endParaRPr lang="en-US" sz="727" dirty="0"/>
          </a:p>
        </p:txBody>
      </p:sp>
      <p:sp>
        <p:nvSpPr>
          <p:cNvPr id="12" name="Shape 9"/>
          <p:cNvSpPr/>
          <p:nvPr/>
        </p:nvSpPr>
        <p:spPr>
          <a:xfrm>
            <a:off x="821531" y="2977158"/>
            <a:ext cx="142875" cy="142875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821531" y="297715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4" name="Text 11"/>
          <p:cNvSpPr/>
          <p:nvPr/>
        </p:nvSpPr>
        <p:spPr>
          <a:xfrm>
            <a:off x="1050131" y="2962870"/>
            <a:ext cx="21288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Autenticação Segura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1050131" y="3120033"/>
            <a:ext cx="16756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4155"/>
                </a:solidFill>
              </a:rPr>
              <a:t>Login com JWT e controle de acesso</a:t>
            </a:r>
            <a:endParaRPr lang="en-US" sz="727" dirty="0"/>
          </a:p>
        </p:txBody>
      </p:sp>
      <p:sp>
        <p:nvSpPr>
          <p:cNvPr id="16" name="Shape 13"/>
          <p:cNvSpPr/>
          <p:nvPr/>
        </p:nvSpPr>
        <p:spPr>
          <a:xfrm>
            <a:off x="821531" y="3362920"/>
            <a:ext cx="142875" cy="142875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821531" y="336292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8" name="Text 15"/>
          <p:cNvSpPr/>
          <p:nvPr/>
        </p:nvSpPr>
        <p:spPr>
          <a:xfrm>
            <a:off x="1050131" y="3348633"/>
            <a:ext cx="21288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Filtros Avançados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1050131" y="3505795"/>
            <a:ext cx="16394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4155"/>
                </a:solidFill>
              </a:rPr>
              <a:t>Busca por nome, CPF, série e turno</a:t>
            </a:r>
            <a:endParaRPr lang="en-US" sz="727" dirty="0"/>
          </a:p>
        </p:txBody>
      </p:sp>
      <p:sp>
        <p:nvSpPr>
          <p:cNvPr id="20" name="Shape 17"/>
          <p:cNvSpPr/>
          <p:nvPr/>
        </p:nvSpPr>
        <p:spPr>
          <a:xfrm>
            <a:off x="821531" y="3748683"/>
            <a:ext cx="142875" cy="142875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8"/>
          <p:cNvSpPr/>
          <p:nvPr/>
        </p:nvSpPr>
        <p:spPr>
          <a:xfrm>
            <a:off x="821531" y="374868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4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1050131" y="3734395"/>
            <a:ext cx="21288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Responsividade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1050131" y="3891558"/>
            <a:ext cx="176283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4155"/>
                </a:solidFill>
              </a:rPr>
              <a:t>Compatível com todos os dispositivos</a:t>
            </a:r>
            <a:endParaRPr lang="en-US" sz="727" dirty="0"/>
          </a:p>
        </p:txBody>
      </p:sp>
      <p:sp>
        <p:nvSpPr>
          <p:cNvPr id="24" name="Shape 21"/>
          <p:cNvSpPr/>
          <p:nvPr/>
        </p:nvSpPr>
        <p:spPr>
          <a:xfrm>
            <a:off x="3393281" y="2148483"/>
            <a:ext cx="285750" cy="28575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2"/>
          <p:cNvSpPr/>
          <p:nvPr/>
        </p:nvSpPr>
        <p:spPr>
          <a:xfrm>
            <a:off x="3393281" y="214848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→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764756" y="2203847"/>
            <a:ext cx="106009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Próximos Passos</a:t>
            </a:r>
            <a:endParaRPr lang="en-US" sz="885" dirty="0"/>
          </a:p>
        </p:txBody>
      </p:sp>
      <p:sp>
        <p:nvSpPr>
          <p:cNvPr id="27" name="Shape 24"/>
          <p:cNvSpPr/>
          <p:nvPr/>
        </p:nvSpPr>
        <p:spPr>
          <a:xfrm>
            <a:off x="3393281" y="2591395"/>
            <a:ext cx="142875" cy="142875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5"/>
          <p:cNvSpPr/>
          <p:nvPr/>
        </p:nvSpPr>
        <p:spPr>
          <a:xfrm>
            <a:off x="3393281" y="259139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29" name="Text 26"/>
          <p:cNvSpPr/>
          <p:nvPr/>
        </p:nvSpPr>
        <p:spPr>
          <a:xfrm>
            <a:off x="3621881" y="2577108"/>
            <a:ext cx="21288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Relatórios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3621881" y="2734270"/>
            <a:ext cx="16994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4155"/>
                </a:solidFill>
              </a:rPr>
              <a:t>Dashboards gerenciais e estatísticas</a:t>
            </a:r>
            <a:endParaRPr lang="en-US" sz="727" dirty="0"/>
          </a:p>
        </p:txBody>
      </p:sp>
      <p:sp>
        <p:nvSpPr>
          <p:cNvPr id="31" name="Shape 28"/>
          <p:cNvSpPr/>
          <p:nvPr/>
        </p:nvSpPr>
        <p:spPr>
          <a:xfrm>
            <a:off x="3393281" y="2977158"/>
            <a:ext cx="142875" cy="142875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29"/>
          <p:cNvSpPr/>
          <p:nvPr/>
        </p:nvSpPr>
        <p:spPr>
          <a:xfrm>
            <a:off x="3393281" y="297715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33" name="Text 30"/>
          <p:cNvSpPr/>
          <p:nvPr/>
        </p:nvSpPr>
        <p:spPr>
          <a:xfrm>
            <a:off x="3621881" y="2962870"/>
            <a:ext cx="21288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Pagamento</a:t>
            </a:r>
            <a:endParaRPr lang="en-US" sz="683" dirty="0"/>
          </a:p>
        </p:txBody>
      </p:sp>
      <p:sp>
        <p:nvSpPr>
          <p:cNvPr id="34" name="Text 31"/>
          <p:cNvSpPr/>
          <p:nvPr/>
        </p:nvSpPr>
        <p:spPr>
          <a:xfrm>
            <a:off x="3621881" y="3120033"/>
            <a:ext cx="15945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4155"/>
                </a:solidFill>
              </a:rPr>
              <a:t>Integração com sistemas de taxas</a:t>
            </a:r>
            <a:endParaRPr lang="en-US" sz="727" dirty="0"/>
          </a:p>
        </p:txBody>
      </p:sp>
      <p:sp>
        <p:nvSpPr>
          <p:cNvPr id="35" name="Shape 32"/>
          <p:cNvSpPr/>
          <p:nvPr/>
        </p:nvSpPr>
        <p:spPr>
          <a:xfrm>
            <a:off x="3393281" y="3362920"/>
            <a:ext cx="142875" cy="142875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3"/>
          <p:cNvSpPr/>
          <p:nvPr/>
        </p:nvSpPr>
        <p:spPr>
          <a:xfrm>
            <a:off x="3393281" y="336292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37" name="Text 34"/>
          <p:cNvSpPr/>
          <p:nvPr/>
        </p:nvSpPr>
        <p:spPr>
          <a:xfrm>
            <a:off x="3621881" y="3348633"/>
            <a:ext cx="21288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Comunicação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3621881" y="3505795"/>
            <a:ext cx="138968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4155"/>
                </a:solidFill>
              </a:rPr>
              <a:t>Notificações por e-mail e SMS</a:t>
            </a:r>
            <a:endParaRPr lang="en-US" sz="727" dirty="0"/>
          </a:p>
        </p:txBody>
      </p:sp>
      <p:sp>
        <p:nvSpPr>
          <p:cNvPr id="39" name="Shape 36"/>
          <p:cNvSpPr/>
          <p:nvPr/>
        </p:nvSpPr>
        <p:spPr>
          <a:xfrm>
            <a:off x="3393281" y="3748683"/>
            <a:ext cx="142875" cy="142875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Text 37"/>
          <p:cNvSpPr/>
          <p:nvPr/>
        </p:nvSpPr>
        <p:spPr>
          <a:xfrm>
            <a:off x="3393281" y="374868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4</a:t>
            </a:r>
            <a:endParaRPr lang="en-US" sz="584" dirty="0"/>
          </a:p>
        </p:txBody>
      </p:sp>
      <p:sp>
        <p:nvSpPr>
          <p:cNvPr id="41" name="Text 38"/>
          <p:cNvSpPr/>
          <p:nvPr/>
        </p:nvSpPr>
        <p:spPr>
          <a:xfrm>
            <a:off x="3621881" y="3734395"/>
            <a:ext cx="21288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Expansão</a:t>
            </a:r>
            <a:endParaRPr lang="en-US" sz="683" dirty="0"/>
          </a:p>
        </p:txBody>
      </p:sp>
      <p:sp>
        <p:nvSpPr>
          <p:cNvPr id="42" name="Text 39"/>
          <p:cNvSpPr/>
          <p:nvPr/>
        </p:nvSpPr>
        <p:spPr>
          <a:xfrm>
            <a:off x="3621881" y="3891558"/>
            <a:ext cx="18595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4155"/>
                </a:solidFill>
              </a:rPr>
              <a:t>Módulos adicionais conforme demanda</a:t>
            </a:r>
            <a:endParaRPr lang="en-US" sz="727" dirty="0"/>
          </a:p>
        </p:txBody>
      </p:sp>
      <p:sp>
        <p:nvSpPr>
          <p:cNvPr id="43" name="Shape 40"/>
          <p:cNvSpPr/>
          <p:nvPr/>
        </p:nvSpPr>
        <p:spPr>
          <a:xfrm>
            <a:off x="5965031" y="2148483"/>
            <a:ext cx="285750" cy="2857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4" name="Text 41"/>
          <p:cNvSpPr/>
          <p:nvPr/>
        </p:nvSpPr>
        <p:spPr>
          <a:xfrm>
            <a:off x="5965031" y="214848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🙏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6336506" y="2203847"/>
            <a:ext cx="60141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Obrigado</a:t>
            </a:r>
            <a:endParaRPr lang="en-US" sz="885" dirty="0"/>
          </a:p>
        </p:txBody>
      </p:sp>
      <p:sp>
        <p:nvSpPr>
          <p:cNvPr id="46" name="Shape 43"/>
          <p:cNvSpPr/>
          <p:nvPr/>
        </p:nvSpPr>
        <p:spPr>
          <a:xfrm>
            <a:off x="5965031" y="2591395"/>
            <a:ext cx="142875" cy="142875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7" name="Text 44"/>
          <p:cNvSpPr/>
          <p:nvPr/>
        </p:nvSpPr>
        <p:spPr>
          <a:xfrm>
            <a:off x="5965031" y="259139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48" name="Text 45"/>
          <p:cNvSpPr/>
          <p:nvPr/>
        </p:nvSpPr>
        <p:spPr>
          <a:xfrm>
            <a:off x="6193631" y="2577108"/>
            <a:ext cx="21288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Projeto Completo</a:t>
            </a:r>
            <a:endParaRPr lang="en-US" sz="683" dirty="0"/>
          </a:p>
        </p:txBody>
      </p:sp>
      <p:sp>
        <p:nvSpPr>
          <p:cNvPr id="49" name="Text 46"/>
          <p:cNvSpPr/>
          <p:nvPr/>
        </p:nvSpPr>
        <p:spPr>
          <a:xfrm>
            <a:off x="6193631" y="2734270"/>
            <a:ext cx="14591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4155"/>
                </a:solidFill>
              </a:rPr>
              <a:t>Arquitetura robusta e escalável</a:t>
            </a:r>
            <a:endParaRPr lang="en-US" sz="727" dirty="0"/>
          </a:p>
        </p:txBody>
      </p:sp>
      <p:sp>
        <p:nvSpPr>
          <p:cNvPr id="50" name="Shape 47"/>
          <p:cNvSpPr/>
          <p:nvPr/>
        </p:nvSpPr>
        <p:spPr>
          <a:xfrm>
            <a:off x="5965031" y="2977158"/>
            <a:ext cx="142875" cy="142875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1" name="Text 48"/>
          <p:cNvSpPr/>
          <p:nvPr/>
        </p:nvSpPr>
        <p:spPr>
          <a:xfrm>
            <a:off x="5965031" y="297715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52" name="Text 49"/>
          <p:cNvSpPr/>
          <p:nvPr/>
        </p:nvSpPr>
        <p:spPr>
          <a:xfrm>
            <a:off x="6193631" y="2962870"/>
            <a:ext cx="21288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Pronto para Produção</a:t>
            </a:r>
            <a:endParaRPr lang="en-US" sz="683" dirty="0"/>
          </a:p>
        </p:txBody>
      </p:sp>
      <p:sp>
        <p:nvSpPr>
          <p:cNvPr id="53" name="Text 50"/>
          <p:cNvSpPr/>
          <p:nvPr/>
        </p:nvSpPr>
        <p:spPr>
          <a:xfrm>
            <a:off x="6193631" y="3120033"/>
            <a:ext cx="17439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4155"/>
                </a:solidFill>
              </a:rPr>
              <a:t>Segurança e performance garantidas</a:t>
            </a:r>
            <a:endParaRPr lang="en-US" sz="727" dirty="0"/>
          </a:p>
        </p:txBody>
      </p:sp>
      <p:sp>
        <p:nvSpPr>
          <p:cNvPr id="54" name="Shape 51"/>
          <p:cNvSpPr/>
          <p:nvPr/>
        </p:nvSpPr>
        <p:spPr>
          <a:xfrm>
            <a:off x="5965031" y="3362920"/>
            <a:ext cx="142875" cy="142875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5" name="Text 52"/>
          <p:cNvSpPr/>
          <p:nvPr/>
        </p:nvSpPr>
        <p:spPr>
          <a:xfrm>
            <a:off x="5965031" y="336292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56" name="Text 53"/>
          <p:cNvSpPr/>
          <p:nvPr/>
        </p:nvSpPr>
        <p:spPr>
          <a:xfrm>
            <a:off x="6193631" y="3348633"/>
            <a:ext cx="21288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Suporte Contínuo</a:t>
            </a:r>
            <a:endParaRPr lang="en-US" sz="683" dirty="0"/>
          </a:p>
        </p:txBody>
      </p:sp>
      <p:sp>
        <p:nvSpPr>
          <p:cNvPr id="57" name="Text 54"/>
          <p:cNvSpPr/>
          <p:nvPr/>
        </p:nvSpPr>
        <p:spPr>
          <a:xfrm>
            <a:off x="6193631" y="3505795"/>
            <a:ext cx="153040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4155"/>
                </a:solidFill>
              </a:rPr>
              <a:t>Manutenção e melhorias futuras</a:t>
            </a:r>
            <a:endParaRPr lang="en-US" sz="727" dirty="0"/>
          </a:p>
        </p:txBody>
      </p:sp>
      <p:sp>
        <p:nvSpPr>
          <p:cNvPr id="58" name="Shape 55"/>
          <p:cNvSpPr/>
          <p:nvPr/>
        </p:nvSpPr>
        <p:spPr>
          <a:xfrm>
            <a:off x="5965031" y="3748683"/>
            <a:ext cx="142875" cy="142875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9" name="Text 56"/>
          <p:cNvSpPr/>
          <p:nvPr/>
        </p:nvSpPr>
        <p:spPr>
          <a:xfrm>
            <a:off x="5965031" y="374868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60" name="Text 57"/>
          <p:cNvSpPr/>
          <p:nvPr/>
        </p:nvSpPr>
        <p:spPr>
          <a:xfrm>
            <a:off x="6193631" y="3734395"/>
            <a:ext cx="21288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Perguntas?</a:t>
            </a:r>
            <a:endParaRPr lang="en-US" sz="683" dirty="0"/>
          </a:p>
        </p:txBody>
      </p:sp>
      <p:sp>
        <p:nvSpPr>
          <p:cNvPr id="61" name="Text 58"/>
          <p:cNvSpPr/>
          <p:nvPr/>
        </p:nvSpPr>
        <p:spPr>
          <a:xfrm>
            <a:off x="6193631" y="3891558"/>
            <a:ext cx="18906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4155"/>
                </a:solidFill>
              </a:rPr>
              <a:t>Estou à disposição para esclarecimentos</a:t>
            </a:r>
            <a:endParaRPr lang="en-US" sz="727" dirty="0"/>
          </a:p>
        </p:txBody>
      </p:sp>
      <p:sp>
        <p:nvSpPr>
          <p:cNvPr id="62" name="Text 59"/>
          <p:cNvSpPr/>
          <p:nvPr/>
        </p:nvSpPr>
        <p:spPr>
          <a:xfrm>
            <a:off x="428625" y="4575572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Obrigado pela atenção!</a:t>
            </a:r>
            <a:endParaRPr lang="en-US" sz="784" dirty="0"/>
          </a:p>
        </p:txBody>
      </p:sp>
      <p:sp>
        <p:nvSpPr>
          <p:cNvPr id="63" name="Text 60"/>
          <p:cNvSpPr/>
          <p:nvPr/>
        </p:nvSpPr>
        <p:spPr>
          <a:xfrm>
            <a:off x="428625" y="4802386"/>
            <a:ext cx="82867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Sistema de Gerenciamento de Matrículas Escolares | Novembro de 2025</a:t>
            </a:r>
            <a:endParaRPr lang="en-US" sz="67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2025-11-20T18:11:21Z</dcterms:created>
  <dcterms:modified xsi:type="dcterms:W3CDTF">2025-11-20T18:11:21Z</dcterms:modified>
</cp:coreProperties>
</file>